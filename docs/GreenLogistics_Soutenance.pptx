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oubaLaria/dev-cloud-tp-final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134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7868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temps réel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livraison dernière mile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Final — Développer pour le Cloud · Master 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434840"/>
            <a:ext cx="1484986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34840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(3 nœuds)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98218" y="44348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98218" y="44348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· GitOps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5578" y="4434840"/>
            <a:ext cx="958291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5578" y="4434840"/>
            <a:ext cx="958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58461" y="4434840"/>
            <a:ext cx="1221638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58461" y="4434840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+ ESO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4691" y="4434840"/>
            <a:ext cx="1484986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4691" y="4434840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Linkerd (mTLS)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94269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4269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Grafana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270541" y="4434840"/>
            <a:ext cx="958291" cy="384048"/>
          </a:xfrm>
          <a:prstGeom prst="roundRect">
            <a:avLst>
              <a:gd name="adj" fmla="val 19048"/>
            </a:avLst>
          </a:prstGeom>
          <a:solidFill>
            <a:srgbClr val="134A38"/>
          </a:solidFill>
          <a:ln w="9525">
            <a:solidFill>
              <a:srgbClr val="2A6B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70541" y="4434840"/>
            <a:ext cx="958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6 juillet 2026  ·  Équipe GreenLogistics  ·  Stack 100 % locale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métier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de livraison écologique du dernier kilomètre : suivre les colis en temps réel et prévenir le destinataire à l'approche du livreur.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14600"/>
            <a:ext cx="731520" cy="7315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60969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Destinataire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« livraison imminente » fiable — moins de 5 minutes avant l'arrivée.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514600"/>
            <a:ext cx="731520" cy="7315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60969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Exploitant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1772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service maîtrisée : taux d'erreur API sous 1 %, latence P95 sous 200 ms.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514600"/>
            <a:ext cx="731520" cy="7315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60969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36676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sans risque (GitOps), observer en continu, et maîtriser les coûts d'infrastructure.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Contexte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4 microservices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71516" y="132588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0E3B2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17236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94276" y="219456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DCEFE3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9996" y="2194560"/>
            <a:ext cx="310896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NGINX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39996" y="249631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greenlogistics.local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94476" y="1828800"/>
            <a:ext cx="0" cy="36576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315468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154680"/>
            <a:ext cx="3108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tracker-front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481578"/>
            <a:ext cx="3108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— SPA · route 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315468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3154680"/>
            <a:ext cx="3108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parcel-api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3481578"/>
            <a:ext cx="3108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route /api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315468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92440" y="3154680"/>
            <a:ext cx="3108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gps-ingestor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92440" y="3481578"/>
            <a:ext cx="3108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route /gps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2743200"/>
            <a:ext cx="3671316" cy="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2743200"/>
            <a:ext cx="0" cy="41148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35040" y="2743200"/>
            <a:ext cx="59436" cy="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743200"/>
            <a:ext cx="0" cy="41148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94476" y="2743200"/>
            <a:ext cx="3552444" cy="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2743200"/>
            <a:ext cx="0" cy="41148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34840" y="420624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DCEFE3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4206240"/>
            <a:ext cx="310896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80560" y="450799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420624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DCEFE3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92440" y="4206240"/>
            <a:ext cx="310896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92440" y="450799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"gps-positions"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749040"/>
            <a:ext cx="0" cy="45720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46920" y="3749040"/>
            <a:ext cx="0" cy="45720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61120" y="516636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6E8D2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06840" y="5166360"/>
            <a:ext cx="128016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06840" y="5468112"/>
            <a:ext cx="1280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646920" y="4754880"/>
            <a:ext cx="0" cy="41148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515600" y="516636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F6E8D2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561320" y="5166360"/>
            <a:ext cx="100584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561320" y="5468112"/>
            <a:ext cx="100584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(démo)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332720" y="5440680"/>
            <a:ext cx="182880" cy="0"/>
          </a:xfrm>
          <a:prstGeom prst="line">
            <a:avLst/>
          </a:prstGeom>
          <a:noFill/>
          <a:ln w="19050">
            <a:solidFill>
              <a:srgbClr val="6B7A73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(HTTP via Ingress) + asynchrone (Redpanda, compatible Kafka) → le pic GPS n'impacte pas l'API colis.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Architecture · bloc 4.1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quatre services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3566160"/>
                <a:gridCol w="313639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parcel-api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/ 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colis, statuts, événements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(asyncpg)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gps-ingestor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/ 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des points GPS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Producteur Redpanda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20 /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haversine → notifie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Redpanda → MailHog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tracker-front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(Vite) → NGINX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publique de suivi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Appelle parcel-api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F3E4"/>
          </a:solidFill>
          <a:ln w="12700">
            <a:solidFill>
              <a:srgbClr val="EBD9A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498848"/>
            <a:ext cx="548640" cy="548640"/>
          </a:xfrm>
          <a:prstGeom prst="ellipse">
            <a:avLst/>
          </a:prstGeom>
          <a:solidFill>
            <a:srgbClr val="F6E8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4570171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4389120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d'ingénierie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parcel-api et gps-ingestor ont été migrés de Node vers Python/FastAPI en cours de projet (async + prometheus_client). Les 34 artefacts Node morts ont été purgés du dépôt.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Architecture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Conteneurisation — Docker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est emballé avec son langage et ses librairies : il tourne à l'identique en local, en CI et dans le cluster — fin du « ça marche sur ma machine ».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le moule figé  ·  conteneur = le moule en exécution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= la recette (1 ligne = 1 couche)  ·  Multi-stage : atelier de build → image finale légère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3558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(USER appuser)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93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886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intégré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97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44165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slim / alpine — surface d'attaque réduite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949440" y="137160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3FA77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17804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finale — appuser (non-root)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2048256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6FBF9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78040" y="20482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applicatives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49440" y="2724912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9FD3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178040" y="27249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(python:3.12-slim / node:20-alpine)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949440" y="3401568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DCEFE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178040" y="34015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base (Debian/Alpine minimal)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823960" y="4306824"/>
            <a:ext cx="731520" cy="7315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058" y="4401922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5084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durcie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Conteneurisation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— Kubernetes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déclaratif : on décrit l'état voulu, Kubernetes le maintient en permanence (self-healing) sur le cluster kind (3 nœuds).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41493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N répliques vivantes de l'image applicative en permanence.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205740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331720"/>
            <a:ext cx="640080" cy="64008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241493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DNS fixe et load-balancer stable devant les Pods.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05740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331720"/>
            <a:ext cx="640080" cy="64008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241493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2104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= prêt à recevoir du trafic · liveness = à redémarrer.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DCEFE3"/>
          </a:solidFill>
          <a:ln/>
        </p:spPr>
      </p:sp>
      <p:sp>
        <p:nvSpPr>
          <p:cNvPr id="22" name="Shape 17"/>
          <p:cNvSpPr/>
          <p:nvPr/>
        </p:nvSpPr>
        <p:spPr>
          <a:xfrm>
            <a:off x="804672" y="4800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52" y="486598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709160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reliés par labels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(app: parcel-api)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jamais par des flèches. Les requests/limits CPU/RAM servent de base au HPA.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Orchestration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en code — Terraform (IaC)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plateforme (ArgoCD, Prometheus, Vault, Redpanda…) est provisionnée par code, reproductible en une seule commande. Cycle init → plan → apply.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les fondations — et installe ArgoCD lui-même.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DCEFE3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1488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 ensuite l'application en continu (GitOps).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15000" y="2674620"/>
            <a:ext cx="365760" cy="0"/>
          </a:xfrm>
          <a:prstGeom prst="line">
            <a:avLst/>
          </a:prstGeom>
          <a:noFill/>
          <a:ln w="25400">
            <a:solidFill>
              <a:srgbClr val="3FA772"/>
            </a:solidFill>
            <a:prstDash val="solid"/>
            <a:tailEnd type="triangle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947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72160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helm_release = installe un chart (ArgoCD, kube-prometheus-stack…)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616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4288536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namespace-rbac = namespaces + ServiceAccount + RBAC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286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855464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.tfstate = la mémoire de l'infra (backend local)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IaC · plateforme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d'architecture (ADR)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58795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 clé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7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Redpanda comme broker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Kafka, sans ZooKeeper, plus léger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7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en StatefulSet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structurées, UUID natif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7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Linkerd plutôt qu'Istio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 auto, ~400 Mo vs ~1 Go — critique en 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7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pull-based (ArgoCD)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kubeconfig exposé dans la 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7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+ External Secrets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secret en clair dans 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ADR.md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sécurisé — pull-based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: à chaque push, un robot teste, construit et scanne les images — puis met à jour le déploiement. La CI ne touche jamais au cluster.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962302" cy="822960"/>
          </a:xfrm>
          <a:prstGeom prst="roundRect">
            <a:avLst>
              <a:gd name="adj" fmla="val 8889"/>
            </a:avLst>
          </a:prstGeom>
          <a:solidFill>
            <a:srgbClr val="DCEFE3"/>
          </a:solidFill>
          <a:ln/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920240"/>
            <a:ext cx="1815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10942" y="2331720"/>
            <a:ext cx="320040" cy="0"/>
          </a:xfrm>
          <a:prstGeom prst="line">
            <a:avLst/>
          </a:prstGeom>
          <a:noFill/>
          <a:ln w="25400">
            <a:solidFill>
              <a:srgbClr val="3FA7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0982" y="1920240"/>
            <a:ext cx="1962302" cy="822960"/>
          </a:xfrm>
          <a:prstGeom prst="roundRect">
            <a:avLst>
              <a:gd name="adj" fmla="val 8889"/>
            </a:avLst>
          </a:prstGeom>
          <a:solidFill>
            <a:srgbClr val="DCEFE3"/>
          </a:solidFill>
          <a:ln/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4134" y="1920240"/>
            <a:ext cx="1815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/ build / scan)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93285" y="2331720"/>
            <a:ext cx="320040" cy="0"/>
          </a:xfrm>
          <a:prstGeom prst="line">
            <a:avLst/>
          </a:prstGeom>
          <a:noFill/>
          <a:ln w="25400">
            <a:solidFill>
              <a:srgbClr val="3FA7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13325" y="1920240"/>
            <a:ext cx="1962302" cy="822960"/>
          </a:xfrm>
          <a:prstGeom prst="roundRect">
            <a:avLst>
              <a:gd name="adj" fmla="val 8889"/>
            </a:avLst>
          </a:prstGeom>
          <a:solidFill>
            <a:srgbClr val="DCEFE3"/>
          </a:solidFill>
          <a:ln/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86477" y="1920240"/>
            <a:ext cx="1815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SHA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75627" y="2331720"/>
            <a:ext cx="320040" cy="0"/>
          </a:xfrm>
          <a:prstGeom prst="line">
            <a:avLst/>
          </a:prstGeom>
          <a:noFill/>
          <a:ln w="25400">
            <a:solidFill>
              <a:srgbClr val="3FA7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5667" y="1920240"/>
            <a:ext cx="1962302" cy="822960"/>
          </a:xfrm>
          <a:prstGeom prst="roundRect">
            <a:avLst>
              <a:gd name="adj" fmla="val 8889"/>
            </a:avLst>
          </a:prstGeom>
          <a:solidFill>
            <a:srgbClr val="DCEFE3"/>
          </a:solidFill>
          <a:ln/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68819" y="1920240"/>
            <a:ext cx="1815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57970" y="2331720"/>
            <a:ext cx="320040" cy="0"/>
          </a:xfrm>
          <a:prstGeom prst="line">
            <a:avLst/>
          </a:prstGeom>
          <a:noFill/>
          <a:ln w="25400">
            <a:solidFill>
              <a:srgbClr val="3FA7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78010" y="1920240"/>
            <a:ext cx="1962302" cy="822960"/>
          </a:xfrm>
          <a:prstGeom prst="roundRect">
            <a:avLst>
              <a:gd name="adj" fmla="val 8889"/>
            </a:avLst>
          </a:prstGeom>
          <a:solidFill>
            <a:srgbClr val="155843"/>
          </a:solidFill>
          <a:ln/>
          <a:effectLst>
            <a:outerShdw sx="100000" sy="100000" kx="0" ky="0" algn="bl" rotWithShape="0" blurRad="50800" dist="25400" dir="2700000">
              <a:srgbClr val="0E3B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51162" y="1920240"/>
            <a:ext cx="1815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6440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6112" y="324612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tests (ruff/pytest · eslint/vitest)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326440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24828" y="324612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multi-arch → GHCR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1304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6112" y="379476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: échec si CVE CRITICAL corrigeable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381304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24828" y="379476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update-manifests réécrit le tag SHA</a:t>
            </a:r>
            <a:endParaRPr lang="en-US" sz="12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6168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6112" y="434340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 ne touche jamais au cluster</a:t>
            </a:r>
            <a:endParaRPr lang="en-US" sz="12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356" y="436168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24828" y="4343400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tire le nouveau tag et déploie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Vault + ESO, hors Git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Blocs 4.4 / 4.5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— App of Apps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est la seule source de vérité : ArgoCD compare Git ↔ cluster en boucle et corrige (selfHeal, prune). Zéro kubectl apply manuel.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15584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(root)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37360" y="2331720"/>
            <a:ext cx="0" cy="3538728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85292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6517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51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335584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1546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54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parcel-api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385876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65760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gps-ingestor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436168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16052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60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486460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466344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663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tracker-front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37360" y="536752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1663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1663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5870448"/>
            <a:ext cx="-731520" cy="0"/>
          </a:xfrm>
          <a:prstGeom prst="line">
            <a:avLst/>
          </a:prstGeom>
          <a:noFill/>
          <a:ln w="15875">
            <a:solidFill>
              <a:srgbClr val="D8E6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56692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DCEFE3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6692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2057400"/>
            <a:ext cx="4507992" cy="1234440"/>
          </a:xfrm>
          <a:prstGeom prst="roundRect">
            <a:avLst>
              <a:gd name="adj" fmla="val 6667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194560"/>
            <a:ext cx="4050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+ prune activés → démo live : scale à 0 → resync auto (~90 s).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3474720"/>
            <a:ext cx="4507992" cy="1234440"/>
          </a:xfrm>
          <a:prstGeom prst="roundRect">
            <a:avLst>
              <a:gd name="adj" fmla="val 6667"/>
            </a:avLst>
          </a:prstGeom>
          <a:solidFill>
            <a:srgbClr val="DCEFE3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3611880"/>
            <a:ext cx="4050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parcel-api en Argo Rollouts : montée en charge progressive et rollback auto sur métriques.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Bloc 4.5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 &amp; SRE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exposent /metrics → Prometheus collecte → Grafana affiche → Alertmanager alerte (MailHog). Objectifs de qualité mesurés par des SLO.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5843"/>
          </a:solidFill>
          <a:ln/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11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7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d'erreur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5843"/>
          </a:solidFill>
          <a:ln/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2011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7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9768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P95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5843"/>
          </a:solidFill>
          <a:ln/>
          <a:effectLst>
            <a:outerShdw sx="100000" sy="100000" kx="0" ky="0" algn="bl" rotWithShape="0" blurRad="101600" dist="38100" dir="2700000">
              <a:srgbClr val="0E3B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2011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7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4672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3075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370332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(Prometheus + Grafana + Alertmanager)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37307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97396" y="370332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 — logs centralisés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4281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4215384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scrapé via ServiceMonitor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424281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97396" y="4215384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custom SLO</a:t>
            </a:r>
            <a:endParaRPr lang="en-US" sz="12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5488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4727448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→ MailHog (vérifiée bout-en-bout)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Bloc 4.6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(DevSecOps) &amp; FinOps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bloquant (CVE CRITICAL)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97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2441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deny-by-default + allow-lists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1810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099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automatique via Linkerd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7647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3758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non-root, HEALTHCHECK, multi-stage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348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4165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: ServiceAccount + Role/RoleBinding (module Terraform)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136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748272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— coût par namespace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459736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48272" y="2441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team / env / app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18104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748272" y="3099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limits sur tous les pods</a:t>
            </a:r>
            <a:endParaRPr lang="en-US" sz="13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76472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748272" y="3758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parcel-api 2 → 6</a:t>
            </a:r>
            <a:endParaRPr lang="en-US" sz="13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434840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748272" y="44165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gps-ingestor 2 → 10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Blocs 4.7 / 4.8</a:t>
            </a:r>
            <a:endParaRPr lang="en-US" sz="900" dirty="0"/>
          </a:p>
        </p:txBody>
      </p:sp>
      <p:sp>
        <p:nvSpPr>
          <p:cNvPr id="28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3FA77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live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451592" y="50292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34A38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51592" y="502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733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métier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→ OUT_FOR_DELIVERY → GPS → email MailHog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15" name="Text 11"/>
          <p:cNvSpPr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7335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Self-Heal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6177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à 0 → resync automatique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3816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0" y="169164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21" name="Text 16"/>
          <p:cNvSpPr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67335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sous charge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4124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→ montée en puissance des replicas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427939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2296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SLO en temps réel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34340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17720" y="429768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33" name="Text 26"/>
          <p:cNvSpPr/>
          <p:nvPr/>
        </p:nvSpPr>
        <p:spPr>
          <a:xfrm>
            <a:off x="46177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4279392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61772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SLO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461772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[FIRING] livré dans MailHog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813816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4A38"/>
          </a:solidFill>
          <a:ln w="12700">
            <a:solidFill>
              <a:srgbClr val="1E594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412480" y="4297680"/>
            <a:ext cx="457200" cy="457200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39" name="Text 31"/>
          <p:cNvSpPr/>
          <p:nvPr/>
        </p:nvSpPr>
        <p:spPr>
          <a:xfrm>
            <a:off x="84124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4279392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41248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</a:t>
            </a:r>
            <a:endParaRPr lang="en-US" sz="1450" dirty="0"/>
          </a:p>
        </p:txBody>
      </p:sp>
      <p:sp>
        <p:nvSpPr>
          <p:cNvPr id="42" name="Text 33"/>
          <p:cNvSpPr/>
          <p:nvPr/>
        </p:nvSpPr>
        <p:spPr>
          <a:xfrm>
            <a:off x="841248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détaillé par namespace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Démo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d'expérience — incidents résolus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35608"/>
            <a:ext cx="502920" cy="502920"/>
          </a:xfrm>
          <a:prstGeom prst="ellipse">
            <a:avLst/>
          </a:prstGeom>
          <a:solidFill>
            <a:srgbClr val="F3DC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500988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17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OOMKilled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—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restarts, tout le monitoring mort. Limite 512 Mi dépassée au chargement du WAL (253 segments).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portée à 1 Gi. Stable, 0 restart.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2344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435608"/>
            <a:ext cx="502920" cy="502920"/>
          </a:xfrm>
          <a:prstGeom prst="ellipse">
            <a:avLst/>
          </a:prstGeom>
          <a:solidFill>
            <a:srgbClr val="F3DC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150098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417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absentes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92240" y="2011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—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ServiceMonitor, et une NetworkPolicy bloquait le scrape.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ServiceMonitor ajoutés + NetworkPolicy allow-metrics-scrape.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721608"/>
            <a:ext cx="502920" cy="502920"/>
          </a:xfrm>
          <a:prstGeom prst="ellipse">
            <a:avLst/>
          </a:prstGeom>
          <a:solidFill>
            <a:srgbClr val="F3DCD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3786988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703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 PromQL faux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2960" y="4297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—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rate(erreurs) vide sans 5xx · quantile non agrégé correctement.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or on() vector(0) + sum by (le).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5204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63500" dist="25400" dir="2700000">
              <a:srgbClr val="0E3B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3721608"/>
            <a:ext cx="502920" cy="502920"/>
          </a:xfrm>
          <a:prstGeom prst="ellipse">
            <a:avLst/>
          </a:prstGeom>
          <a:solidFill>
            <a:srgbClr val="F3DCD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786988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703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ExternalSecret Degraded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92240" y="4297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—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en dev-mode réinitialisé à chaque redémarrage.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reprovisionné ; procédure documentée.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Difficultés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état du cluster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636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: 7 applications Synced / Healthy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5798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00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57984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parcel-api : erreur 0 %, P95 ≈ 5 ms, Error Budget 100 %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94436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363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944368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actifs (parcel-api 2/6, gps-ingestor 2/10)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73075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2277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730752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stable, cibles parcel-api / gps-ingestor up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51713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091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517136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livrée dans MailHog — [FIRING:1] … (critical greenlogistics)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95544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34440" y="530352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sur machine tierce en moins de 30 min (SETUP.md)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548640" y="61356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→ docs/captures/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Preuves → docs/captures/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55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d'amélioration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99616"/>
            <a:ext cx="457200" cy="45720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59052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71600"/>
            <a:ext cx="10040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sémantiques d'images sur release (vX.Y.Z) en plus du SHA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350008"/>
            <a:ext cx="457200" cy="45720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4094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21992"/>
            <a:ext cx="10040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/metrics sur notifier → SLO de consommation d'événements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72384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25983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072384"/>
            <a:ext cx="10040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multi-fenêtres (burn-rate alerting) plutôt qu'un seuil simple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92277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D8E6D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4110228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22776"/>
            <a:ext cx="10040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en mode persistant (non-dev) → plus de re-provisionnement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81888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5584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292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818888"/>
            <a:ext cx="10131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Mesh · tracing Tempo/OpenTelemetry · tests e2e (k6 / Playwright) en CI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GreenLogistics · §7 rapport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34A38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914400"/>
            <a:ext cx="822960" cy="822960"/>
          </a:xfrm>
          <a:prstGeom prst="ellipse">
            <a:avLst/>
          </a:prstGeom>
          <a:solidFill>
            <a:srgbClr val="134A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10213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8745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FA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34A38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4904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apps Synced/Healthy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0138" y="374904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34A38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81578" y="374904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tenus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1636" y="374904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34A38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3076" y="374904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vérifiée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3134" y="374904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34A38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4574" y="374904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local &amp; reproductible</a:t>
            </a:r>
            <a:endParaRPr lang="en-US" sz="1200" dirty="0"/>
          </a:p>
        </p:txBody>
      </p:sp>
      <p:sp>
        <p:nvSpPr>
          <p:cNvPr id="16" name="Text 13">
            <a:hlinkClick r:id="rId2" tooltip=""/>
          </p:cNvPr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u="sng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Dépôt : github.com/boubaLaria/dev-cloud-tp-final  ·  tag v1.0-soutenance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GreenLogistics — Tracking temps réel de livraison dernière mile</dc:title>
  <dc:subject>PptxGenJS Presentation</dc:subject>
  <dc:creator>Équipe GreenLogistics</dc:creator>
  <cp:lastModifiedBy>Équipe GreenLogistics</cp:lastModifiedBy>
  <cp:revision>1</cp:revision>
  <dcterms:created xsi:type="dcterms:W3CDTF">2026-07-06T10:27:43Z</dcterms:created>
  <dcterms:modified xsi:type="dcterms:W3CDTF">2026-07-06T10:27:43Z</dcterms:modified>
</cp:coreProperties>
</file>